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Бюджет (тыс. ₸)</c:v>
                </c:pt>
              </c:strCache>
            </c:strRef>
          </c:tx>
          <c:spPr>
            <a:solidFill>
              <a:srgbClr val="C877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11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77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F360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A1B9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Лидогенерация</c:v>
                  </c:pt>
                  <c:pt idx="1">
                    <c:v>Нефтегаз
сегмент</c:v>
                  </c:pt>
                  <c:pt idx="2">
                    <c:v>Ретаргетинг</c:v>
                  </c:pt>
                  <c:pt idx="3">
                    <c:v>Узнаваемость</c:v>
                  </c:pt>
                  <c:pt idx="4">
                    <c:v>A/B тест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80</c:v>
                </c:pt>
                <c:pt idx="2">
                  <c:v>60</c:v>
                </c:pt>
                <c:pt idx="3">
                  <c:v>40</c:v>
                </c:pt>
                <c:pt idx="4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1111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</c:scaling>
        <c:delete val="0"/>
        <c:axPos val="l"/>
        <c:majorGridlines>
          <c:spPr>
            <a:ln w="6350" cap="flat">
              <a:solidFill>
                <a:srgbClr val="E0E5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18320" y="320040"/>
            <a:ext cx="2468880" cy="411480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0" y="320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МАРКЕТИНГОВАЯ СТРАТЕГИЯ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91440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5000"/>
              </a:lnSpc>
              <a:buNone/>
            </a:pPr>
            <a:r>
              <a:rPr lang="en-US" sz="9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ASTANA</a:t>
            </a:r>
            <a:endParaRPr lang="en-US" sz="90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9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VALVE</a:t>
            </a:r>
            <a:endParaRPr lang="en-US" sz="9000" dirty="0"/>
          </a:p>
        </p:txBody>
      </p:sp>
      <p:sp>
        <p:nvSpPr>
          <p:cNvPr id="14" name="Shape 12"/>
          <p:cNvSpPr/>
          <p:nvPr/>
        </p:nvSpPr>
        <p:spPr>
          <a:xfrm>
            <a:off x="731520" y="2148840"/>
            <a:ext cx="5303520" cy="1188720"/>
          </a:xfrm>
          <a:prstGeom prst="rect">
            <a:avLst/>
          </a:prstGeom>
          <a:solidFill>
            <a:srgbClr val="C8773A">
              <a:alpha val="15000"/>
            </a:srgbClr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566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87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· ТАРГЕТИНГ · SEO · КОНТЕНТ-СТРАТЕГИЯ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маркетинговая стратегия для казахстанского производителя запорной арматуры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5074920"/>
            <a:ext cx="2468880" cy="0"/>
          </a:xfrm>
          <a:prstGeom prst="line">
            <a:avLst/>
          </a:prstGeom>
          <a:noFill/>
          <a:ln w="12700">
            <a:solidFill>
              <a:srgbClr val="C877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66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8773A"/>
                </a:solidFill>
              </a:rPr>
              <a:t>Компания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5394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ТОО «Astana Valve»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66160" y="5074920"/>
            <a:ext cx="2468880" cy="0"/>
          </a:xfrm>
          <a:prstGeom prst="line">
            <a:avLst/>
          </a:prstGeom>
          <a:noFill/>
          <a:ln w="12700">
            <a:solidFill>
              <a:srgbClr val="C877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5166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8773A"/>
                </a:solidFill>
              </a:rPr>
              <a:t>Ниша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66160" y="5394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Запорная арматура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5074920"/>
            <a:ext cx="2468880" cy="0"/>
          </a:xfrm>
          <a:prstGeom prst="line">
            <a:avLst/>
          </a:prstGeom>
          <a:noFill/>
          <a:ln w="12700">
            <a:solidFill>
              <a:srgbClr val="C877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5166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8773A"/>
                </a:solidFill>
              </a:rPr>
              <a:t>Рынок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0" y="5394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Казахстан (KZ)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235440" y="5074920"/>
            <a:ext cx="2468880" cy="0"/>
          </a:xfrm>
          <a:prstGeom prst="line">
            <a:avLst/>
          </a:prstGeom>
          <a:noFill/>
          <a:ln w="12700">
            <a:solidFill>
              <a:srgbClr val="C877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0" y="5166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8773A"/>
                </a:solidFill>
              </a:rPr>
              <a:t>Модель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235440" y="5394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+ B2G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292608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9BAB"/>
                </a:solidFill>
              </a:rPr>
              <a:t>СТРУКТУРА ДОКУМЕНТА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Содержание стратегии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502920" cy="384048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48132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Анализ компании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7099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B"/>
                </a:solidFill>
              </a:rPr>
              <a:t>Профиль бизнеса, продукты, УТП, конкурентные преимущества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432304"/>
            <a:ext cx="502920" cy="384048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3230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45059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SWOT-анализ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67919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B"/>
                </a:solidFill>
              </a:rPr>
              <a:t>Сильные стороны, слабости, возможности, угрозы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401568"/>
            <a:ext cx="502920" cy="384048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4015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4198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SEO-аудит сайта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64845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B"/>
                </a:solidFill>
              </a:rPr>
              <a:t>Технические ошибки astanavalve.kz и рекомендации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4370832"/>
            <a:ext cx="502920" cy="384048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37083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43891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Целевая аудитория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46177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B"/>
                </a:solidFill>
              </a:rPr>
              <a:t>6 портретов B2B-покупателей с параметрами таргетинга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5340096"/>
            <a:ext cx="502920" cy="384048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534009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535838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Настройки таргетинга Meta Ads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558698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B"/>
                </a:solidFill>
              </a:rPr>
              <a:t>4 рекламные кампании с параметрами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0" y="1463040"/>
            <a:ext cx="502920" cy="38404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14630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40880" y="148132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Контент-стратегия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40880" y="170992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B"/>
                </a:solidFill>
              </a:rPr>
              <a:t>Концепция, форматы, частота, хештеги, контент-план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0" y="2432304"/>
            <a:ext cx="502920" cy="38404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243230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40880" y="245059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Рекламные объявления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40880" y="267919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B"/>
                </a:solidFill>
              </a:rPr>
              <a:t>Готовые тексты для Feed, Stories, Reels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00800" y="3401568"/>
            <a:ext cx="502920" cy="38404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34015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040880" y="34198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Бюджет и медиаплан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40880" y="364845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B"/>
                </a:solidFill>
              </a:rPr>
              <a:t>Распределение 330 000 ₸/мес, прогноз лидов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00800" y="4370832"/>
            <a:ext cx="502920" cy="38404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437083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09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040880" y="43891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KPI и метрики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040880" y="46177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B"/>
                </a:solidFill>
              </a:rPr>
              <a:t>8 ключевых показателей эффективности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00800" y="5340096"/>
            <a:ext cx="502920" cy="38404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534009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040880" y="535838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Дорожная карта запуска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040880" y="55869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B"/>
                </a:solidFill>
              </a:rPr>
              <a:t>Поэтапный план на 3–6 месяцев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80760" y="1371600"/>
            <a:ext cx="0" cy="5029200"/>
          </a:xfrm>
          <a:prstGeom prst="line">
            <a:avLst/>
          </a:prstGeom>
          <a:noFill/>
          <a:ln w="12700">
            <a:solidFill>
              <a:srgbClr val="E0E5E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292608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9BAB"/>
                </a:solidFill>
              </a:rPr>
              <a:t>АНАЛИЗ КОМПАНИИ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Профиль бизнеса: ТОО «Astana Valve»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512064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54864" cy="5120640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087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773A"/>
                </a:solidFill>
              </a:rPr>
              <a:t>О компании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ТОО «Astana Valve» — казахстанский производитель промышленной запорной арматуры. Реорганизована до 2023 года. Собственное производство в г. Астана (ул. Мустафина 7/1).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60604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Ассортимент продукции: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880360"/>
            <a:ext cx="4709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Задвижки с обрезиненным клином DN50–1200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Задвижки стальные и из нержавейки DN50–1200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Затворы с двойным/тройным эксцентриситетом DN50–2000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Обратные клапаны (межфланцевые, шаровые, поворотные)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Воздушные клапаны DN50–200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Пожарные гидранты DN100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Монтажные вставки DN50–2400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1417320"/>
            <a:ext cx="28346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52160" y="1417320"/>
            <a:ext cx="2834640" cy="64008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98932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Цены на 15% ниже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89320" y="27432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Собственное производство без посредников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61120" y="1417320"/>
            <a:ext cx="28346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961120" y="1417320"/>
            <a:ext cx="2834640" cy="64008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828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09828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Гарантия 2 года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098280" y="27432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При соблюдении условий эксплуатации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52160" y="4023360"/>
            <a:ext cx="28346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852160" y="4023360"/>
            <a:ext cx="2834640" cy="64008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989320" y="4937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Доставка по всему КЗ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89320" y="5349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Астана, Алматы, Атырау, Актау и др.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61120" y="4023360"/>
            <a:ext cx="28346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961120" y="4023360"/>
            <a:ext cx="2834640" cy="64008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9828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9098280" y="4937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КП за 1 день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098280" y="5349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Индивидуальное коммерческое предложение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292608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9BAB"/>
                </a:solidFill>
              </a:rPr>
              <a:t>СТРАТЕГИЧЕСКИЙ АНАЛИЗ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SWOT-анализ компании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5486400" cy="24688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54864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73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STRENGTHS · Сильные стороны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5212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Собственное производство в Казахстане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Цены на 15% ниже среднерыночных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Широкий ассортимент: DN50 — DN2000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Гарантия 2 года (выше стандарта)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Facebook Pixel уже установлен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КП в день обращения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Сертификаты соответствия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5486400" cy="246888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0" y="1417320"/>
            <a:ext cx="5486400" cy="3840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4173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WEAKNESSES · Слабые стороны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1874520"/>
            <a:ext cx="5212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Критические ошибки SEO на сайте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Нет Instagram / LinkedIn присутствия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Нет кейсов реализованных объектов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Нет видеоконтента о производстве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Нет онлайн-прайса и условий доставки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Молодой бренд (до 2023 — другое имя)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4069080"/>
            <a:ext cx="5486400" cy="2468880"/>
          </a:xfrm>
          <a:prstGeom prst="rect">
            <a:avLst/>
          </a:prstGeom>
          <a:solidFill>
            <a:srgbClr val="FFF3E0"/>
          </a:solidFill>
          <a:ln w="19050">
            <a:solidFill>
              <a:srgbClr val="BF63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4069080"/>
            <a:ext cx="5486400" cy="384048"/>
          </a:xfrm>
          <a:prstGeom prst="rect">
            <a:avLst/>
          </a:prstGeom>
          <a:solidFill>
            <a:srgbClr val="BF6316"/>
          </a:solidFill>
          <a:ln w="12700">
            <a:solidFill>
              <a:srgbClr val="BF6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06908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OPPORTUNITIES · Возможности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526280"/>
            <a:ext cx="5212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Рост строительного рынка Казахстана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Импортозамещение — спрос на КЗ-бренды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Госзакупки и тендеры ГКП / АО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Instagram B2B — низкая конкуренция в нише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Выход на рынки ЕАЭС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Рост нефтегазового сектора в РК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4069080"/>
            <a:ext cx="5486400" cy="2468880"/>
          </a:xfrm>
          <a:prstGeom prst="rect">
            <a:avLst/>
          </a:prstGeom>
          <a:solidFill>
            <a:srgbClr val="F4F6F9"/>
          </a:solidFill>
          <a:ln w="19050">
            <a:solidFill>
              <a:srgbClr val="4A55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4069080"/>
            <a:ext cx="5486400" cy="38404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406908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THREATS · Угрозы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4526280"/>
            <a:ext cx="5212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Демпинг китайских поставщиков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Узнаваемые российские бренды-конкуренты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Длинный цикл B2B-сделки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Рост цен на металл и комплектующие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Зависимость от алгоритмов Meta Ads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292608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9BAB"/>
                </a:solidFill>
              </a:rPr>
              <a:t>SEO-АУДИТ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Технический анализ astanavalve.kz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1430000" cy="38404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Элемент сайта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17720" y="13716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Текущее состояние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89720" y="1371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Статус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755648"/>
            <a:ext cx="114300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55648"/>
            <a:ext cx="3840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Canonical URL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17720" y="1755648"/>
            <a:ext cx="4206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Значение «newnew»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098280" y="1865376"/>
            <a:ext cx="1463040" cy="301752"/>
          </a:xfrm>
          <a:prstGeom prst="rect">
            <a:avLst/>
          </a:prstGeom>
          <a:solidFill>
            <a:srgbClr val="C62828">
              <a:alpha val="20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1865376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2828"/>
                </a:solidFill>
              </a:rPr>
              <a:t>КРИТИЧНО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276856"/>
            <a:ext cx="11430000" cy="521208"/>
          </a:xfrm>
          <a:prstGeom prst="rect">
            <a:avLst/>
          </a:prstGeom>
          <a:solidFill>
            <a:srgbClr val="F0F3F7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76856"/>
            <a:ext cx="3840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OG:URL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17720" y="2276856"/>
            <a:ext cx="4206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Значение «newnew»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98280" y="2386584"/>
            <a:ext cx="1463040" cy="301752"/>
          </a:xfrm>
          <a:prstGeom prst="rect">
            <a:avLst/>
          </a:prstGeom>
          <a:solidFill>
            <a:srgbClr val="C62828">
              <a:alpha val="20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8280" y="2386584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2828"/>
                </a:solidFill>
              </a:rPr>
              <a:t>КРИТИЧНО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798064"/>
            <a:ext cx="114300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798064"/>
            <a:ext cx="3840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Meta Description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17720" y="2798064"/>
            <a:ext cx="4206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Пустое поле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98280" y="2907792"/>
            <a:ext cx="1463040" cy="301752"/>
          </a:xfrm>
          <a:prstGeom prst="rect">
            <a:avLst/>
          </a:prstGeom>
          <a:solidFill>
            <a:srgbClr val="C62828">
              <a:alpha val="20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98280" y="2907792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2828"/>
                </a:solidFill>
              </a:rPr>
              <a:t>КРИТИЧНО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319272"/>
            <a:ext cx="11430000" cy="521208"/>
          </a:xfrm>
          <a:prstGeom prst="rect">
            <a:avLst/>
          </a:prstGeom>
          <a:solidFill>
            <a:srgbClr val="F0F3F7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319272"/>
            <a:ext cx="3840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Alt-тексты изображений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17720" y="3319272"/>
            <a:ext cx="4206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Все пустые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098280" y="3429000"/>
            <a:ext cx="1463040" cy="301752"/>
          </a:xfrm>
          <a:prstGeom prst="rect">
            <a:avLst/>
          </a:prstGeom>
          <a:solidFill>
            <a:srgbClr val="C62828">
              <a:alpha val="20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98280" y="342900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2828"/>
                </a:solidFill>
              </a:rPr>
              <a:t>КРИТИЧНО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840480"/>
            <a:ext cx="114300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840480"/>
            <a:ext cx="3840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Schema.org разметка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17720" y="3840480"/>
            <a:ext cx="4206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Отсутствует полностью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98280" y="3950208"/>
            <a:ext cx="1463040" cy="301752"/>
          </a:xfrm>
          <a:prstGeom prst="rect">
            <a:avLst/>
          </a:prstGeom>
          <a:solidFill>
            <a:srgbClr val="F57F17">
              <a:alpha val="20000"/>
            </a:srgbClr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98280" y="395020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7F17"/>
                </a:solidFill>
              </a:rPr>
              <a:t>ВАЖНО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4361688"/>
            <a:ext cx="11430000" cy="521208"/>
          </a:xfrm>
          <a:prstGeom prst="rect">
            <a:avLst/>
          </a:prstGeom>
          <a:solidFill>
            <a:srgbClr val="F0F3F7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361688"/>
            <a:ext cx="3840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Title тег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17720" y="4361688"/>
            <a:ext cx="4206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Есть, но без города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098280" y="4471416"/>
            <a:ext cx="1463040" cy="301752"/>
          </a:xfrm>
          <a:prstGeom prst="rect">
            <a:avLst/>
          </a:prstGeom>
          <a:solidFill>
            <a:srgbClr val="F57F17">
              <a:alpha val="20000"/>
            </a:srgbClr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98280" y="4471416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7F17"/>
                </a:solidFill>
              </a:rPr>
              <a:t>СРЕДНЕ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4882896"/>
            <a:ext cx="114300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882896"/>
            <a:ext cx="3840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Facebook Pixel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617720" y="4882896"/>
            <a:ext cx="4206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Установлен (ID готов)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098280" y="4992624"/>
            <a:ext cx="1463040" cy="301752"/>
          </a:xfrm>
          <a:prstGeom prst="rect">
            <a:avLst/>
          </a:prstGeom>
          <a:solidFill>
            <a:srgbClr val="2E7D32">
              <a:alpha val="2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98280" y="4992624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</a:rPr>
              <a:t>ХОРОШО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5404104"/>
            <a:ext cx="11430000" cy="521208"/>
          </a:xfrm>
          <a:prstGeom prst="rect">
            <a:avLst/>
          </a:prstGeom>
          <a:solidFill>
            <a:srgbClr val="F0F3F7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5404104"/>
            <a:ext cx="3840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Мобильная версия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617720" y="5404104"/>
            <a:ext cx="4206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Адаптивный дизайн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098280" y="5513832"/>
            <a:ext cx="1463040" cy="301752"/>
          </a:xfrm>
          <a:prstGeom prst="rect">
            <a:avLst/>
          </a:prstGeom>
          <a:solidFill>
            <a:srgbClr val="2E7D32">
              <a:alpha val="2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098280" y="5513832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</a:rPr>
              <a:t>ХОРОШО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65760" y="6035040"/>
            <a:ext cx="11430000" cy="594360"/>
          </a:xfrm>
          <a:prstGeom prst="rect">
            <a:avLst/>
          </a:prstGeom>
          <a:solidFill>
            <a:srgbClr val="FFF3E0"/>
          </a:solidFill>
          <a:ln w="19050">
            <a:solidFill>
              <a:srgbClr val="C8773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5760" y="6035040"/>
            <a:ext cx="64008" cy="594360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" y="6080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</a:rPr>
              <a:t>⚡ Исправление 4 критических ошибок SEO улучшит Quality Score в Meta Ads и снизит стоимость клика на 20–35%. Приоритет #1 перед запуском рекламы.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292608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9BAB"/>
                </a:solidFill>
              </a:rPr>
              <a:t>ЦЕЛЕВАЯ АУДИТОРИЯ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Портретов B2B-покупателя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6576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3657600" cy="64008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81912"/>
            <a:ext cx="438912" cy="438912"/>
          </a:xfrm>
          <a:prstGeom prst="ellipse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81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5819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Снабженец / Закупщик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13055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Возраст 28–45. Ищет поставщиков для строительных проектов. Решает по цене и срокам. Активен в WhatsApp.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355848"/>
            <a:ext cx="3383280" cy="274320"/>
          </a:xfrm>
          <a:prstGeom prst="rect">
            <a:avLst/>
          </a:prstGeom>
          <a:solidFill>
            <a:srgbClr val="C8773A">
              <a:alpha val="12000"/>
            </a:srgbClr>
          </a:solidFill>
          <a:ln w="12700">
            <a:solidFill>
              <a:srgbClr val="C8773A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355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773A"/>
                </a:solidFill>
              </a:rPr>
              <a:t>Снабжение · Закупки · Тендеры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97680" y="1417320"/>
            <a:ext cx="36576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1417320"/>
            <a:ext cx="36576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1581912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1581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15819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Главный инженер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34840" y="213055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Возраст 35–55. Определяет технические требования и спецификации. Важны ГОСТ, сертификаты, ТТХ.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34840" y="3355848"/>
            <a:ext cx="3383280" cy="274320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3355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</a:rPr>
              <a:t>Инженерия · ПТО · Промышленность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229600" y="1417320"/>
            <a:ext cx="36576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0" y="1417320"/>
            <a:ext cx="365760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66760" y="1581912"/>
            <a:ext cx="438912" cy="43891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6760" y="1581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915400" y="15819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Прораб / Нач. стройки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66760" y="213055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Возраст 30–50. Нужна арматура для конкретных объектов. Ценит скорость. Instagram — на смартфоне.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366760" y="3355848"/>
            <a:ext cx="3383280" cy="274320"/>
          </a:xfrm>
          <a:prstGeom prst="rect">
            <a:avLst/>
          </a:prstGeom>
          <a:solidFill>
            <a:srgbClr val="2E7D32">
              <a:alpha val="12000"/>
            </a:srgbClr>
          </a:solidFill>
          <a:ln w="12700">
            <a:solidFill>
              <a:srgbClr val="2E7D32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66760" y="3355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</a:rPr>
              <a:t>Строительство · Девелопмент · Монтаж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4069080"/>
            <a:ext cx="36576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4069080"/>
            <a:ext cx="3657600" cy="640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233672"/>
            <a:ext cx="438912" cy="43891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233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51560" y="42336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Директор МСБ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478231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Возраст 35–55. Собственник малой строительной компании. Сам принимает решения. Реагирует на «дешевле».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6007608"/>
            <a:ext cx="3383280" cy="274320"/>
          </a:xfrm>
          <a:prstGeom prst="rect">
            <a:avLst/>
          </a:prstGeom>
          <a:solidFill>
            <a:srgbClr val="6A1B9A">
              <a:alpha val="12000"/>
            </a:srgbClr>
          </a:solidFill>
          <a:ln w="12700">
            <a:solidFill>
              <a:srgbClr val="6A1B9A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6007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A1B9A"/>
                </a:solidFill>
              </a:rPr>
              <a:t>МСБ · Предпринимательство · Партнёрство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297680" y="4069080"/>
            <a:ext cx="36576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297680" y="4069080"/>
            <a:ext cx="3657600" cy="640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34840" y="4233672"/>
            <a:ext cx="438912" cy="438912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34840" y="4233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983480" y="42336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Специалист ЖКХ / ВКХ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434840" y="478231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Работает в ГКП / Горводоканале. Закупки через тендеры. Нужны сертификаты и счёт-фактуры.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434840" y="6007608"/>
            <a:ext cx="3383280" cy="274320"/>
          </a:xfrm>
          <a:prstGeom prst="rect">
            <a:avLst/>
          </a:prstGeom>
          <a:solidFill>
            <a:srgbClr val="00695C">
              <a:alpha val="12000"/>
            </a:srgbClr>
          </a:solidFill>
          <a:ln w="12700">
            <a:solidFill>
              <a:srgbClr val="00695C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34840" y="6007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95C"/>
                </a:solidFill>
              </a:rPr>
              <a:t>ЖКХ · Водоснабжение · Госзакупки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229600" y="4069080"/>
            <a:ext cx="36576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229600" y="4069080"/>
            <a:ext cx="3657600" cy="64008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366760" y="4233672"/>
            <a:ext cx="438912" cy="438912"/>
          </a:xfrm>
          <a:prstGeom prst="ellipse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66760" y="4233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915400" y="42336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Специалист нефтегаза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366760" y="478231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Работает при КМГ или сервисных компаниях. Высокий бюджет. Нужна нержавейка и PN25+.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366760" y="6007608"/>
            <a:ext cx="3383280" cy="274320"/>
          </a:xfrm>
          <a:prstGeom prst="rect">
            <a:avLst/>
          </a:prstGeom>
          <a:solidFill>
            <a:srgbClr val="BF360C">
              <a:alpha val="12000"/>
            </a:srgbClr>
          </a:solidFill>
          <a:ln w="12700">
            <a:solidFill>
              <a:srgbClr val="BF360C">
                <a:alpha val="4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66760" y="6007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F360C"/>
                </a:solidFill>
              </a:rPr>
              <a:t>Нефтегаз · КМГ · Нержавейка · PN25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292608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9BAB"/>
                </a:solidFill>
              </a:rPr>
              <a:t>META ADS / INSTAGRAM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Рекламные кампании: настройки таргетинга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54864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5486400" cy="384048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508760"/>
            <a:ext cx="228600" cy="22860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508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14173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Лидогенерация (холодная)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773A"/>
                </a:solidFill>
              </a:rPr>
              <a:t>Цель: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187452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</a:rPr>
              <a:t>WhatsApp / Leads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19456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773A"/>
                </a:solidFill>
              </a:rPr>
              <a:t>Гео: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219456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</a:rPr>
              <a:t>Астана, Алматы, Шымкент, Атырау, Актау, Актобе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51460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773A"/>
                </a:solidFill>
              </a:rPr>
              <a:t>Возраст: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0" y="251460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</a:rPr>
              <a:t>28–55 лет, преимущественно мужчины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283464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773A"/>
                </a:solidFill>
              </a:rPr>
              <a:t>Должности: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28800" y="283464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</a:rPr>
              <a:t>Инженер, Прораб, Снабженец, Директор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315468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773A"/>
                </a:solidFill>
              </a:rPr>
              <a:t>Интересы: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28800" y="315468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</a:rPr>
              <a:t>Строительство, Промышленность, Нефтегаз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347472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773A"/>
                </a:solidFill>
              </a:rPr>
              <a:t>Бюджет/мес: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828800" y="347472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</a:rPr>
              <a:t>120 000 ₸ → прогноз 15–30 лидов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1417320"/>
            <a:ext cx="54864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417320"/>
            <a:ext cx="54864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36208" y="1508760"/>
            <a:ext cx="228600" cy="22860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1508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0" y="14173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Ретаргетинг (Pixel)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187452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</a:rPr>
              <a:t>Цель: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89520" y="187452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</a:rPr>
              <a:t>Conversions / WhatsApp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63640" y="219456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</a:rPr>
              <a:t>Аудитория: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89520" y="219456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</a:rPr>
              <a:t>Посетители astanavalve.kz за 30 дней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63640" y="251460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</a:rPr>
              <a:t>+ Lookalike: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89520" y="251460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</a:rPr>
              <a:t>Похожие на написавших в WhatsApp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63640" y="283464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</a:rPr>
              <a:t>Исключить: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589520" y="283464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</a:rPr>
              <a:t>Уже отправившие форму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63640" y="315468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</a:rPr>
              <a:t>Частота: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589520" y="315468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</a:rPr>
              <a:t>Не более 3–4 раз в неделю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63640" y="347472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</a:rPr>
              <a:t>Бюджет/мес: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589520" y="347472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</a:rPr>
              <a:t>60 000 ₸ → прогноз 15–30 лидов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4023360"/>
            <a:ext cx="54864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65760" y="4023360"/>
            <a:ext cx="5486400" cy="384048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114800"/>
            <a:ext cx="228600" cy="22860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" y="4114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22960" y="40233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Нефтегазовый сегмент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02920" y="448056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360C"/>
                </a:solidFill>
              </a:rPr>
              <a:t>Цель: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828800" y="448056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</a:rPr>
              <a:t>Leads / WhatsApp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02920" y="480060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360C"/>
                </a:solidFill>
              </a:rPr>
              <a:t>Гео: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828800" y="480060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</a:rPr>
              <a:t>Атырау, Актау, Жанаозен, Актобе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02920" y="512064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360C"/>
                </a:solidFill>
              </a:rPr>
              <a:t>Интересы: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828800" y="512064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</a:rPr>
              <a:t>Нефтегаз, КМГ, Добыча, Нефтепровод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02920" y="544068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360C"/>
                </a:solidFill>
              </a:rPr>
              <a:t>Продукт: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828800" y="544068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</a:rPr>
              <a:t>Задвижки нерж., PN25, DN1200+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02920" y="576072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360C"/>
                </a:solidFill>
              </a:rPr>
              <a:t>CTA: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828800" y="576072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</a:rPr>
              <a:t>«Технические данные → WhatsApp»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02920" y="608076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360C"/>
                </a:solidFill>
              </a:rPr>
              <a:t>Бюджет/мес: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828800" y="608076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</a:rPr>
              <a:t>80 000 ₸ → прогноз 7–13 лидов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126480" y="4023360"/>
            <a:ext cx="54864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126480" y="4023360"/>
            <a:ext cx="54864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36208" y="4114800"/>
            <a:ext cx="228600" cy="22860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36208" y="4114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583680" y="40233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Узнаваемость бренда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263640" y="448056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</a:rPr>
              <a:t>Цель: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589520" y="448056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</a:rPr>
              <a:t>Reach / Brand Awareness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263640" y="480060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</a:rPr>
              <a:t>Контент: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589520" y="480060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</a:rPr>
              <a:t>Видео с производства, сертификаты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263640" y="512064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</a:rPr>
              <a:t>Гео: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589520" y="512064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</a:rPr>
              <a:t>Вся территория Казахстана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263640" y="544068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</a:rPr>
              <a:t>Плейсмент: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589520" y="544068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</a:rPr>
              <a:t>Reels + Stories (приоритет)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263640" y="576072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</a:rPr>
              <a:t>Охват цель: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589520" y="576072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</a:rPr>
              <a:t>50 000+ уникальных/мес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6263640" y="608076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</a:rPr>
              <a:t>Бюджет/мес: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589520" y="608076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</a:rPr>
              <a:t>40 000 ₸ → 50 000+ охват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292608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9BAB"/>
                </a:solidFill>
              </a:rPr>
              <a:t>КОНТЕНТ-СТРАТЕГИЯ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Политика Instagram-профиля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5303520" cy="137160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8773A"/>
                </a:solidFill>
              </a:rPr>
              <a:t>КОНЦЕПЦИЯ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«Казахстанская сталь — надёжность в каждом соединении»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1005840" cy="658368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92608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08760" y="2971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Образовательный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08760" y="32735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Технические разборы, инструкции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794760"/>
            <a:ext cx="1005840" cy="65836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79476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508760" y="3840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Продающий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08760" y="41422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Акции, КП, продуктовые посты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4663440"/>
            <a:ext cx="100584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66344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508760" y="4709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Доверие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08760" y="50109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Производство, отзывы, команда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5532120"/>
            <a:ext cx="100584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553212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508760" y="5577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Вовлечение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08760" y="58795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Опросы, тесты, мемы о стройке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89320" y="1417320"/>
            <a:ext cx="5806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9320" y="1417320"/>
            <a:ext cx="64008" cy="1600200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53912" y="15270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73A"/>
                </a:solidFill>
              </a:rPr>
              <a:t>📅 Частота публикаций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53912" y="1801368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Посты в ленте: 4–5 в неделю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Stories: ежедневно 3–5 шт.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Reels: минимум 2 в неделю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Лучшее время: вт–пт 09:00 и 18:30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89320" y="3246120"/>
            <a:ext cx="5806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89320" y="3246120"/>
            <a:ext cx="64008" cy="1600200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53912" y="33558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73A"/>
                </a:solidFill>
              </a:rPr>
              <a:t>🎨 Визуальный стиль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53912" y="3630168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Цвета: стальной серый + медный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Шрифт инфографики: Montserrat Bold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Фото: производство, крупный план, объекты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Стиль: сдержанный индустриальный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89320" y="5074920"/>
            <a:ext cx="5806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989320" y="5074920"/>
            <a:ext cx="64008" cy="1600200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53912" y="51846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73A"/>
                </a:solidFill>
              </a:rPr>
              <a:t>#️⃣ Хештеги (топ-8)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53912" y="5458968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#запорнаяарматура #задвижки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#строительствоказахстан #astanavalve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#арматуракз #водоснабжениекз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#нефтегазкз #инженерия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292608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9BAB"/>
                </a:solidFill>
              </a:rPr>
              <a:t>КОНТЕНТ-ПЛАН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Месячный контент-план: неделя за неделей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502920" cy="1188720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0000"/>
                </a:solidFill>
              </a:rPr>
              <a:t>Знакомство с брендом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005840" y="1371600"/>
            <a:ext cx="10972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371600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773A"/>
                </a:solidFill>
              </a:rPr>
              <a:t>ПН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91640" y="1435608"/>
            <a:ext cx="1097280" cy="274320"/>
          </a:xfrm>
          <a:prstGeom prst="rect">
            <a:avLst/>
          </a:prstGeom>
          <a:solidFill>
            <a:srgbClr val="C8773A">
              <a:alpha val="15000"/>
            </a:srgbClr>
          </a:solidFill>
          <a:ln w="12700">
            <a:solidFill>
              <a:srgbClr val="C8773A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1435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8773A"/>
                </a:solidFill>
              </a:rPr>
              <a:t>REEL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926080" y="1371600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Тур по заводу 30–60 сек. «Мы — Astana Valve. Вот как рождается надёжность»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1764792"/>
            <a:ext cx="10972800" cy="393192"/>
          </a:xfrm>
          <a:prstGeom prst="rect">
            <a:avLst/>
          </a:prstGeom>
          <a:solidFill>
            <a:srgbClr val="F4F6F9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1764792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773A"/>
                </a:solidFill>
              </a:rPr>
              <a:t>СР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91640" y="1828800"/>
            <a:ext cx="1097280" cy="274320"/>
          </a:xfrm>
          <a:prstGeom prst="rect">
            <a:avLst/>
          </a:prstGeom>
          <a:solidFill>
            <a:srgbClr val="C8773A">
              <a:alpha val="15000"/>
            </a:srgbClr>
          </a:solidFill>
          <a:ln w="12700">
            <a:solidFill>
              <a:srgbClr val="C8773A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8773A"/>
                </a:solidFill>
              </a:rPr>
              <a:t>КАРУСЕЛЬ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926080" y="1764792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«5 видов арматуры — какую выбрать?» Инфографика по каждому типу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05840" y="2157984"/>
            <a:ext cx="10972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157984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773A"/>
                </a:solidFill>
              </a:rPr>
              <a:t>ПТ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91640" y="2221992"/>
            <a:ext cx="1097280" cy="274320"/>
          </a:xfrm>
          <a:prstGeom prst="rect">
            <a:avLst/>
          </a:prstGeom>
          <a:solidFill>
            <a:srgbClr val="C8773A">
              <a:alpha val="15000"/>
            </a:srgbClr>
          </a:solidFill>
          <a:ln w="12700">
            <a:solidFill>
              <a:srgbClr val="C8773A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91640" y="2221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8773A"/>
                </a:solidFill>
              </a:rPr>
              <a:t>ФОТО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926080" y="2157984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Сертификат соответствия + «Гарантия 2 года. Собственное производство»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688336"/>
            <a:ext cx="502920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77977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65760" y="323697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0000"/>
                </a:solidFill>
              </a:rPr>
              <a:t>Образование + Доверие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005840" y="2688336"/>
            <a:ext cx="10972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2688336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</a:rPr>
              <a:t>ПН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691640" y="2752344"/>
            <a:ext cx="1097280" cy="274320"/>
          </a:xfrm>
          <a:prstGeom prst="rect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91640" y="27523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65C0"/>
                </a:solidFill>
              </a:rPr>
              <a:t>REEL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926080" y="2688336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«Как выбрать задвижку DN100? 3 параметра за 60 секунд» — инженер показывает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05840" y="3081528"/>
            <a:ext cx="10972800" cy="393192"/>
          </a:xfrm>
          <a:prstGeom prst="rect">
            <a:avLst/>
          </a:prstGeom>
          <a:solidFill>
            <a:srgbClr val="F4F6F9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3081528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</a:rPr>
              <a:t>СР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691640" y="3145536"/>
            <a:ext cx="1097280" cy="274320"/>
          </a:xfrm>
          <a:prstGeom prst="rect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91640" y="31455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65C0"/>
                </a:solidFill>
              </a:rPr>
              <a:t>ИНФОГРАФ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926080" y="308152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«Почему наши цены на 15% ниже?» Схема: Производитель → нет посредников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05840" y="3474720"/>
            <a:ext cx="10972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1560" y="3474720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</a:rPr>
              <a:t>ЧТ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691640" y="3538728"/>
            <a:ext cx="1097280" cy="274320"/>
          </a:xfrm>
          <a:prstGeom prst="rect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91640" y="3538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65C0"/>
                </a:solidFill>
              </a:rPr>
              <a:t>ФОТО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926080" y="3474720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Кейс объекта: установленная арматура + «Срок поставки: 3 дня»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4005072"/>
            <a:ext cx="502920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365760" y="45537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0000"/>
                </a:solidFill>
              </a:rPr>
              <a:t>Продажи + Акция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05840" y="4005072"/>
            <a:ext cx="10972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51560" y="4005072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ВТ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691640" y="4069080"/>
            <a:ext cx="1097280" cy="274320"/>
          </a:xfrm>
          <a:prstGeom prst="rect">
            <a:avLst/>
          </a:prstGeom>
          <a:solidFill>
            <a:srgbClr val="2E7D32">
              <a:alpha val="15000"/>
            </a:srgbClr>
          </a:solidFill>
          <a:ln w="12700">
            <a:solidFill>
              <a:srgbClr val="2E7D32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69164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</a:rPr>
              <a:t>ФОТО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926080" y="4005072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🔥 АКЦИЯ: «Скидка 7% на задвижки DN100-300 при заказе до [дата]»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05840" y="4398264"/>
            <a:ext cx="10972800" cy="393192"/>
          </a:xfrm>
          <a:prstGeom prst="rect">
            <a:avLst/>
          </a:prstGeom>
          <a:solidFill>
            <a:srgbClr val="F4F6F9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51560" y="4398264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ЧТ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691640" y="4462272"/>
            <a:ext cx="1097280" cy="274320"/>
          </a:xfrm>
          <a:prstGeom prst="rect">
            <a:avLst/>
          </a:prstGeom>
          <a:solidFill>
            <a:srgbClr val="2E7D32">
              <a:alpha val="15000"/>
            </a:srgbClr>
          </a:solidFill>
          <a:ln w="12700">
            <a:solidFill>
              <a:srgbClr val="2E7D32">
                <a:alpha val="5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691640" y="44622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</a:rPr>
              <a:t>КАРУСЕЛЬ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2926080" y="4398264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«Топ-5 причин, почему строители выбирают нас» — одна причина = один слайд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005840" y="4791456"/>
            <a:ext cx="10972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51560" y="4791456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СБ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691640" y="4855464"/>
            <a:ext cx="1097280" cy="274320"/>
          </a:xfrm>
          <a:prstGeom prst="rect">
            <a:avLst/>
          </a:prstGeom>
          <a:solidFill>
            <a:srgbClr val="2E7D32">
              <a:alpha val="15000"/>
            </a:srgbClr>
          </a:solidFill>
          <a:ln w="12700">
            <a:solidFill>
              <a:srgbClr val="2E7D32">
                <a:alpha val="5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691640" y="48554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</a:rPr>
              <a:t>STORIES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2926080" y="4791456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Обратный отсчёт «Осталось 2 дня!» + кнопка WhatsApp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5321808"/>
            <a:ext cx="502920" cy="118872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541324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365760" y="587044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0000"/>
                </a:solidFill>
              </a:rPr>
              <a:t>Соц. доказательство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1005840" y="5321808"/>
            <a:ext cx="10972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51560" y="5321808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360C"/>
                </a:solidFill>
              </a:rPr>
              <a:t>ПН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691640" y="5385816"/>
            <a:ext cx="1097280" cy="274320"/>
          </a:xfrm>
          <a:prstGeom prst="rect">
            <a:avLst/>
          </a:prstGeom>
          <a:solidFill>
            <a:srgbClr val="BF360C">
              <a:alpha val="15000"/>
            </a:srgbClr>
          </a:solidFill>
          <a:ln w="12700">
            <a:solidFill>
              <a:srgbClr val="BF360C">
                <a:alpha val="5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691640" y="5385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F360C"/>
                </a:solidFill>
              </a:rPr>
              <a:t>ФОТО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2926080" y="532180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Отзыв клиента — скриншот переписки WhatsApp или текстовая карточка с цитатой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005840" y="5715000"/>
            <a:ext cx="10972800" cy="393192"/>
          </a:xfrm>
          <a:prstGeom prst="rect">
            <a:avLst/>
          </a:prstGeom>
          <a:solidFill>
            <a:srgbClr val="F4F6F9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51560" y="5715000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360C"/>
                </a:solidFill>
              </a:rPr>
              <a:t>СР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1691640" y="5779008"/>
            <a:ext cx="1097280" cy="274320"/>
          </a:xfrm>
          <a:prstGeom prst="rect">
            <a:avLst/>
          </a:prstGeom>
          <a:solidFill>
            <a:srgbClr val="BF360C">
              <a:alpha val="15000"/>
            </a:srgbClr>
          </a:solidFill>
          <a:ln w="12700">
            <a:solidFill>
              <a:srgbClr val="BF360C">
                <a:alpha val="5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691640" y="57790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F360C"/>
                </a:solidFill>
              </a:rPr>
              <a:t>REEL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2926080" y="5715000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«Арматура для нефтянки: что нужно знать» — нержавейка, PN25, применение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1005840" y="6108192"/>
            <a:ext cx="10972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51560" y="6108192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360C"/>
                </a:solidFill>
              </a:rPr>
              <a:t>ПТ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1691640" y="6172200"/>
            <a:ext cx="1097280" cy="274320"/>
          </a:xfrm>
          <a:prstGeom prst="rect">
            <a:avLst/>
          </a:prstGeom>
          <a:solidFill>
            <a:srgbClr val="BF360C">
              <a:alpha val="15000"/>
            </a:srgbClr>
          </a:solidFill>
          <a:ln w="12700">
            <a:solidFill>
              <a:srgbClr val="BF360C">
                <a:alpha val="50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691640" y="6172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F360C"/>
                </a:solidFill>
              </a:rPr>
              <a:t>КАРУСЕЛЬ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2926080" y="6108192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«Как мы доставляем по всему Казахстану» — карта КЗ + схема заказа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292608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9BAB"/>
                </a:solidFill>
              </a:rPr>
              <a:t>РЕКЛАМНЫЕ ОБЪЯВЛЕНИЯ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Готовые тексты для Instagram-рекламы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5577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566160" y="1508760"/>
            <a:ext cx="2240280" cy="292608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5087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ЛЕНТА · ЛИДОГЕНЕРАЦИЯ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5270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Объявление #1 — Холодная аудитория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892808"/>
            <a:ext cx="5303520" cy="1463040"/>
          </a:xfrm>
          <a:prstGeom prst="rect">
            <a:avLst/>
          </a:prstGeom>
          <a:solidFill>
            <a:srgbClr val="F4F6F9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29384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🔩 Задвижки и затворы от производителя в Казахстане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Покупаете арматуру у посредников? Переплачиваете от 15 до 30%!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✅ DN50 до DN2000  ✅ Сертификаты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✅ Гарантия 2 года  ✅ КП в день обращения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📦 Доставка по всему Казахстану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📲 WhatsApp: +7 707 855-55-11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3447288"/>
            <a:ext cx="1645920" cy="0"/>
          </a:xfrm>
          <a:prstGeom prst="line">
            <a:avLst/>
          </a:prstGeom>
          <a:noFill/>
          <a:ln w="10160">
            <a:solidFill>
              <a:srgbClr val="E0E5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4930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7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1:1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72160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AB"/>
                </a:solidFill>
              </a:rPr>
              <a:t>Формат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286000" y="3447288"/>
            <a:ext cx="1645920" cy="0"/>
          </a:xfrm>
          <a:prstGeom prst="line">
            <a:avLst/>
          </a:prstGeom>
          <a:noFill/>
          <a:ln w="10160">
            <a:solidFill>
              <a:srgbClr val="E0E5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34930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7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86000" y="372160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AB"/>
                </a:solidFill>
              </a:rPr>
              <a:t>Плейсмент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069080" y="3447288"/>
            <a:ext cx="1645920" cy="0"/>
          </a:xfrm>
          <a:prstGeom prst="line">
            <a:avLst/>
          </a:prstGeom>
          <a:noFill/>
          <a:ln w="10160">
            <a:solidFill>
              <a:srgbClr val="E0E5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9080" y="34930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7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69080" y="372160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AB"/>
                </a:solidFill>
              </a:rPr>
              <a:t>CTA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17920" y="1417320"/>
            <a:ext cx="5577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418320" y="1508760"/>
            <a:ext cx="224028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0" y="15087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STORIES / REELS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55080" y="15270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Объявление #2 — Видео 15 сек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55080" y="1892808"/>
            <a:ext cx="5303520" cy="1463040"/>
          </a:xfrm>
          <a:prstGeom prst="rect">
            <a:avLst/>
          </a:prstGeom>
          <a:solidFill>
            <a:srgbClr val="F4F6F9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1929384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0–3 сек: Логотип AV на фоне завода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«Мы производим.»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3–8 сек: Нарезка: конвейер → сварка → контроль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8–12 сек: Текст: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«Дешевле рынка на 15%»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«Гарантия 2 года»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12–15 сек: CTA + WhatsApp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55080" y="3447288"/>
            <a:ext cx="1645920" cy="0"/>
          </a:xfrm>
          <a:prstGeom prst="line">
            <a:avLst/>
          </a:prstGeom>
          <a:noFill/>
          <a:ln w="10160">
            <a:solidFill>
              <a:srgbClr val="E0E5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34930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9:16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55080" y="372160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AB"/>
                </a:solidFill>
              </a:rPr>
              <a:t>Формат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138160" y="3447288"/>
            <a:ext cx="1645920" cy="0"/>
          </a:xfrm>
          <a:prstGeom prst="line">
            <a:avLst/>
          </a:prstGeom>
          <a:noFill/>
          <a:ln w="10160">
            <a:solidFill>
              <a:srgbClr val="E0E5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34930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15"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38160" y="372160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AB"/>
                </a:solidFill>
              </a:rPr>
              <a:t>Длина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921240" y="3447288"/>
            <a:ext cx="1645920" cy="0"/>
          </a:xfrm>
          <a:prstGeom prst="line">
            <a:avLst/>
          </a:prstGeom>
          <a:noFill/>
          <a:ln w="10160">
            <a:solidFill>
              <a:srgbClr val="E0E5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21240" y="34930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KZ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921240" y="372160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AB"/>
                </a:solidFill>
              </a:rPr>
              <a:t>Гео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" y="4069080"/>
            <a:ext cx="5577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566160" y="4160520"/>
            <a:ext cx="224028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66160" y="41605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РЕТАРГЕТИНГ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2920" y="41788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Объявление #3 — Горячая аудитория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2920" y="4544568"/>
            <a:ext cx="5303520" cy="1463040"/>
          </a:xfrm>
          <a:prstGeom prst="rect">
            <a:avLst/>
          </a:prstGeom>
          <a:solidFill>
            <a:srgbClr val="F4F6F9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4581144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⚙️ Вы уже смотрели нашу арматуру...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Значит, вопрос закупки ещё актуален?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Мы подготовим КП под ваш объект — бесплатно и в тот же день.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Просто напишите в WhatsApp: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«Нужен прайс» или «Нужна задвижка DN___»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2920" y="6099048"/>
            <a:ext cx="1645920" cy="0"/>
          </a:xfrm>
          <a:prstGeom prst="line">
            <a:avLst/>
          </a:prstGeom>
          <a:noFill/>
          <a:ln w="10160">
            <a:solidFill>
              <a:srgbClr val="E0E5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61447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30д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02920" y="63733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AB"/>
                </a:solidFill>
              </a:rPr>
              <a:t>Окно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286000" y="6099048"/>
            <a:ext cx="1645920" cy="0"/>
          </a:xfrm>
          <a:prstGeom prst="line">
            <a:avLst/>
          </a:prstGeom>
          <a:noFill/>
          <a:ln w="10160">
            <a:solidFill>
              <a:srgbClr val="E0E5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0" y="61447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Pixel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2286000" y="63733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AB"/>
                </a:solidFill>
              </a:rPr>
              <a:t>Источник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069080" y="6099048"/>
            <a:ext cx="1645920" cy="0"/>
          </a:xfrm>
          <a:prstGeom prst="line">
            <a:avLst/>
          </a:prstGeom>
          <a:noFill/>
          <a:ln w="10160">
            <a:solidFill>
              <a:srgbClr val="E0E5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69080" y="61447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–30%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069080" y="63733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AB"/>
                </a:solidFill>
              </a:rPr>
              <a:t>CPL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217920" y="4069080"/>
            <a:ext cx="5577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9418320" y="4160520"/>
            <a:ext cx="2240280" cy="292608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418320" y="41605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НЕФТЕГАЗ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355080" y="41788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Объявление #4 — Нефтегазовый сегмент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355080" y="4544568"/>
            <a:ext cx="5303520" cy="1463040"/>
          </a:xfrm>
          <a:prstGeom prst="rect">
            <a:avLst/>
          </a:prstGeom>
          <a:solidFill>
            <a:srgbClr val="F4F6F9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46520" y="4581144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🛢️ Арматура для нефтегазовых объектов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▸ Задвижки стальные DN50–1200 PN25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▸ Затворы с тройным эксцентриситетом DN50–2000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▸ Нержавеющая сталь / спецсплавы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▸ Под электропривод и редуктор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📲 WhatsApp: +7 707 855-55-11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Доставка: Атырау · Актау · Актобе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355080" y="6099048"/>
            <a:ext cx="1645920" cy="0"/>
          </a:xfrm>
          <a:prstGeom prst="line">
            <a:avLst/>
          </a:prstGeom>
          <a:noFill/>
          <a:ln w="10160">
            <a:solidFill>
              <a:srgbClr val="E0E5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55080" y="61447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36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гео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6355080" y="63733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AB"/>
                </a:solidFill>
              </a:rPr>
              <a:t>Города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8138160" y="6099048"/>
            <a:ext cx="1645920" cy="0"/>
          </a:xfrm>
          <a:prstGeom prst="line">
            <a:avLst/>
          </a:prstGeom>
          <a:noFill/>
          <a:ln w="10160">
            <a:solidFill>
              <a:srgbClr val="E0E5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138160" y="61447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36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B2B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8138160" y="63733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AB"/>
                </a:solidFill>
              </a:rPr>
              <a:t>Тип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9921240" y="6099048"/>
            <a:ext cx="1645920" cy="0"/>
          </a:xfrm>
          <a:prstGeom prst="line">
            <a:avLst/>
          </a:prstGeom>
          <a:noFill/>
          <a:ln w="10160">
            <a:solidFill>
              <a:srgbClr val="E0E5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921240" y="61447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36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9921240" y="63733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AB"/>
                </a:solidFill>
              </a:rPr>
              <a:t>Чек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292608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9BAB"/>
                </a:solidFill>
              </a:rPr>
              <a:t>БЮДЖЕТ И МЕДИАПЛАН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Распределение рекламного бюджета: 330 000 ₸/мес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371600"/>
          <a:ext cx="62179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949440" y="1371600"/>
            <a:ext cx="4846320" cy="41148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86600" y="1371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Кампания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0" y="1371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Бюджет/мес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15600" y="13716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Лиды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949440" y="1783080"/>
            <a:ext cx="4846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949440" y="1783080"/>
            <a:ext cx="73152" cy="475488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86600" y="17830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Лидогенерация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144000" y="178308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120 000 ₸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515600" y="178308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15–30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949440" y="2258568"/>
            <a:ext cx="4846320" cy="475488"/>
          </a:xfrm>
          <a:prstGeom prst="rect">
            <a:avLst/>
          </a:prstGeom>
          <a:solidFill>
            <a:srgbClr val="F4F6F9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49440" y="2258568"/>
            <a:ext cx="73152" cy="475488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86600" y="225856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Нефтегаз сегмент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144000" y="2258568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80 000 ₸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515600" y="225856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7–13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949440" y="2734056"/>
            <a:ext cx="4846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949440" y="2734056"/>
            <a:ext cx="73152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86600" y="273405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Ретаргетинг (Pixel)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144000" y="2734056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60 000 ₸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515600" y="273405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15–30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949440" y="3209544"/>
            <a:ext cx="4846320" cy="475488"/>
          </a:xfrm>
          <a:prstGeom prst="rect">
            <a:avLst/>
          </a:prstGeom>
          <a:solidFill>
            <a:srgbClr val="F4F6F9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949440" y="3209544"/>
            <a:ext cx="73152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86600" y="320954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Узнаваемость бренда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9144000" y="3209544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40 000 ₸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0515600" y="320954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50К охват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949440" y="3685032"/>
            <a:ext cx="4846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949440" y="3685032"/>
            <a:ext cx="73152" cy="47548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086600" y="368503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A/B тестирование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9144000" y="368503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30 000 ₸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0515600" y="368503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Данные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949440" y="4160520"/>
            <a:ext cx="4846320" cy="475488"/>
          </a:xfrm>
          <a:prstGeom prst="rect">
            <a:avLst/>
          </a:prstGeom>
          <a:solidFill>
            <a:srgbClr val="FFF3E0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949440" y="4160520"/>
            <a:ext cx="4846320" cy="36576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949440" y="4160520"/>
            <a:ext cx="73152" cy="475488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086600" y="41605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ИТОГО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9144000" y="416052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73A"/>
                </a:solidFill>
              </a:rPr>
              <a:t>330 000 ₸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10515600" y="416052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73A"/>
                </a:solidFill>
              </a:rPr>
              <a:t>37–73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365760" y="5120640"/>
            <a:ext cx="11430000" cy="146304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48640" y="5257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773A"/>
                </a:solidFill>
              </a:rPr>
              <a:t>💡 Потенциал ROI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548640" y="55778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BBCC"/>
                </a:solidFill>
              </a:rPr>
              <a:t>При конверсии лид → сделка = 10% (консервативно для B2B): из 37–73 лидов → 4–7 сделок. Средний чек поставки: 500 000 — 3 000 000 ₸. Потенциальный оборот: 2–21 млн ₸ при затратах 330 000 ₸.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8046720" y="52120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87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600–6300%</a:t>
            </a:r>
            <a:endParaRPr lang="en-US" sz="4600" dirty="0"/>
          </a:p>
        </p:txBody>
      </p:sp>
      <p:sp>
        <p:nvSpPr>
          <p:cNvPr id="46" name="Text 43"/>
          <p:cNvSpPr/>
          <p:nvPr/>
        </p:nvSpPr>
        <p:spPr>
          <a:xfrm>
            <a:off x="8046720" y="6080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AB"/>
                </a:solidFill>
              </a:rPr>
              <a:t>ROAS (возврат на рекламные расходы)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292608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9BAB"/>
                </a:solidFill>
              </a:rPr>
              <a:t>KPI И МЕТРИКИ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Ключевые показатели эффективности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2651760" cy="64008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002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7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≤ 8 000 ₸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CPL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679192"/>
            <a:ext cx="2103120" cy="0"/>
          </a:xfrm>
          <a:prstGeom prst="line">
            <a:avLst/>
          </a:prstGeom>
          <a:noFill/>
          <a:ln w="10160">
            <a:solidFill>
              <a:srgbClr val="E0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43200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Целевая стоимость одного лида (обращения в WhatsApp)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417320"/>
            <a:ext cx="265176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6002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≥ 2%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46120" y="23774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CTR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20440" y="2679192"/>
            <a:ext cx="2103120" cy="0"/>
          </a:xfrm>
          <a:prstGeom prst="line">
            <a:avLst/>
          </a:prstGeom>
          <a:noFill/>
          <a:ln w="10160">
            <a:solidFill>
              <a:srgbClr val="E0E5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2743200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Кликабельность объявлений (норма для B2B-ниши)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141732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417320"/>
            <a:ext cx="265176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6002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50K+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126480" y="23774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Охват/мес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2679192"/>
            <a:ext cx="2103120" cy="0"/>
          </a:xfrm>
          <a:prstGeom prst="line">
            <a:avLst/>
          </a:prstGeom>
          <a:noFill/>
          <a:ln w="10160">
            <a:solidFill>
              <a:srgbClr val="E0E5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2743200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Уникальных пользователей из целевой аудитории Казахстана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006840" y="141732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006840" y="1417320"/>
            <a:ext cx="2651760" cy="64008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06840" y="16002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F36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≥ 30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006840" y="23774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Лидов/мес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281160" y="2679192"/>
            <a:ext cx="2103120" cy="0"/>
          </a:xfrm>
          <a:prstGeom prst="line">
            <a:avLst/>
          </a:prstGeom>
          <a:noFill/>
          <a:ln w="10160">
            <a:solidFill>
              <a:srgbClr val="E0E5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98280" y="2743200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Целевое количество обращений (звонки + WhatsApp + формы)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97764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977640"/>
            <a:ext cx="2651760" cy="640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1605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A1B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≥ 500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365760" y="49377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Подписч/мес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5239512"/>
            <a:ext cx="2103120" cy="0"/>
          </a:xfrm>
          <a:prstGeom prst="line">
            <a:avLst/>
          </a:prstGeom>
          <a:noFill/>
          <a:ln w="10160">
            <a:solidFill>
              <a:srgbClr val="E0E5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03520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Рост Instagram-аудитории за первый месяц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46120" y="397764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46120" y="3977640"/>
            <a:ext cx="2651760" cy="640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46120" y="41605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6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≥ 4%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3246120" y="49377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ER Stories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520440" y="5239512"/>
            <a:ext cx="2103120" cy="0"/>
          </a:xfrm>
          <a:prstGeom prst="line">
            <a:avLst/>
          </a:prstGeom>
          <a:noFill/>
          <a:ln w="10160">
            <a:solidFill>
              <a:srgbClr val="E0E5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37560" y="5303520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Вовлечённость в Stories (ответы, реакции, клики)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26480" y="397764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26480" y="3977640"/>
            <a:ext cx="2651760" cy="6400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26480" y="41605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7F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≤ 60%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6126480" y="49377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Bounce Rate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400800" y="5239512"/>
            <a:ext cx="2103120" cy="0"/>
          </a:xfrm>
          <a:prstGeom prst="line">
            <a:avLst/>
          </a:prstGeom>
          <a:noFill/>
          <a:ln w="10160">
            <a:solidFill>
              <a:srgbClr val="E0E5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5303520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Показатель отказов сайта с рекламного трафика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006840" y="397764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006840" y="3977640"/>
            <a:ext cx="2651760" cy="64008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006840" y="41605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7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600%+</a:t>
            </a:r>
            <a:endParaRPr lang="en-US" sz="2800" dirty="0"/>
          </a:p>
        </p:txBody>
      </p:sp>
      <p:sp>
        <p:nvSpPr>
          <p:cNvPr id="51" name="Text 49"/>
          <p:cNvSpPr/>
          <p:nvPr/>
        </p:nvSpPr>
        <p:spPr>
          <a:xfrm>
            <a:off x="9006840" y="49377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ROAS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281160" y="5239512"/>
            <a:ext cx="2103120" cy="0"/>
          </a:xfrm>
          <a:prstGeom prst="line">
            <a:avLst/>
          </a:prstGeom>
          <a:noFill/>
          <a:ln w="10160">
            <a:solidFill>
              <a:srgbClr val="E0E5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98280" y="5303520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Возврат на рекламные расходы (доход / бюджет × 100%)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292608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9BAB"/>
                </a:solidFill>
              </a:rPr>
              <a:t>ДОРОЖНАЯ КАРТА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Поэтапный план запуска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58368" y="1554480"/>
            <a:ext cx="0" cy="4937760"/>
          </a:xfrm>
          <a:prstGeom prst="line">
            <a:avLst/>
          </a:prstGeom>
          <a:noFill/>
          <a:ln w="25400">
            <a:solidFill>
              <a:srgbClr val="C877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1536192"/>
            <a:ext cx="457200" cy="457200"/>
          </a:xfrm>
          <a:prstGeom prst="ellipse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1417320"/>
            <a:ext cx="10698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97280" y="1417320"/>
            <a:ext cx="64008" cy="1170432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61288" y="1417320"/>
            <a:ext cx="1828800" cy="256032"/>
          </a:xfrm>
          <a:prstGeom prst="rect">
            <a:avLst/>
          </a:prstGeom>
          <a:solidFill>
            <a:srgbClr val="C8773A">
              <a:alpha val="15000"/>
            </a:srgbClr>
          </a:solidFill>
          <a:ln w="12700">
            <a:solidFill>
              <a:srgbClr val="C8773A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1417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773A"/>
                </a:solidFill>
              </a:rPr>
              <a:t>Неделя 1–2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08960" y="143560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Подготовка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1728216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Исправить 4 критические SEO-ошибки сайта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Создать Facebook Business Manager + Instagram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Настроить Pixel: ViewContent, Lead, Contact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Разработать визуальный стиль профиля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Снять 3–5 видео на заводе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" y="2834640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97280" y="2715768"/>
            <a:ext cx="10698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97280" y="2715768"/>
            <a:ext cx="64008" cy="1170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61288" y="2715768"/>
            <a:ext cx="1828800" cy="256032"/>
          </a:xfrm>
          <a:prstGeom prst="rect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61288" y="2715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</a:rPr>
              <a:t>Неделя 3–4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08960" y="273405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Запуск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3026664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Опубликовать первые 8–10 постов по плану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Запустить тестовые кампании 80 000 ₸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Тест: 3 креатива × 2 аудитории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Настроить UTM-метки для всех каналов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WhatsApp Business с каталогом продукции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9768" y="4133088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97280" y="4014216"/>
            <a:ext cx="10698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97280" y="4014216"/>
            <a:ext cx="64008" cy="1170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61288" y="4014216"/>
            <a:ext cx="1828800" cy="256032"/>
          </a:xfrm>
          <a:prstGeom prst="rect">
            <a:avLst/>
          </a:prstGeom>
          <a:solidFill>
            <a:srgbClr val="2E7D32">
              <a:alpha val="15000"/>
            </a:srgbClr>
          </a:solidFill>
          <a:ln w="12700">
            <a:solidFill>
              <a:srgbClr val="2E7D32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61288" y="40142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</a:rPr>
              <a:t>Месяц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108960" y="40325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Оптимизация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25880" y="4325112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Анализ CPL, CTR по каждой кампании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Отключить неэффективные объявления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Масштабировать рабочие кампании +30–50%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Запустить ретаргетинг на Pixel-аудиторию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Минимум 2 Reels в неделю для охвата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9768" y="5431536"/>
            <a:ext cx="457200" cy="457200"/>
          </a:xfrm>
          <a:prstGeom prst="ellipse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097280" y="5312664"/>
            <a:ext cx="10698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97280" y="5312664"/>
            <a:ext cx="64008" cy="117043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61288" y="5312664"/>
            <a:ext cx="1828800" cy="256032"/>
          </a:xfrm>
          <a:prstGeom prst="rect">
            <a:avLst/>
          </a:prstGeom>
          <a:solidFill>
            <a:srgbClr val="BF360C">
              <a:alpha val="15000"/>
            </a:srgbClr>
          </a:solidFill>
          <a:ln w="12700">
            <a:solidFill>
              <a:srgbClr val="BF360C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61288" y="5312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F360C"/>
                </a:solidFill>
              </a:rPr>
              <a:t>Месяц 3–6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108960" y="53309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Рост и масштаб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325880" y="5623560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Отдельные кампании по городам (Алматы, Атырау)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CRM или Google Sheets для учёта лидов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LinkedIn Ads для нефтегаз-сегмента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SEO-блог на сайте под ключевые запросы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Партнёрская программа для прорабов и снабженцев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292608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+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9BAB"/>
                </a:solidFill>
              </a:rPr>
              <a:t>INSTAGRAM-ПРОФИЛЬ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 оформить аккаунт: настройки и Bio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5394960" cy="38404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Базовые настройки профиля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5394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013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773A"/>
                </a:solidFill>
              </a:rPr>
              <a:t>Имя аккаунта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18013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@astanavalve.kz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58568"/>
            <a:ext cx="53949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585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773A"/>
                </a:solidFill>
              </a:rPr>
              <a:t>Имя профиля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22585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Astana Valve | Арматура КЗ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715768"/>
            <a:ext cx="5394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157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773A"/>
                </a:solidFill>
              </a:rPr>
              <a:t>Категория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27157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Промышленная компания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172968"/>
            <a:ext cx="53949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729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773A"/>
                </a:solidFill>
              </a:rPr>
              <a:t>Кнопка действия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31729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WhatsApp (привязать номер)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630168"/>
            <a:ext cx="5394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30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773A"/>
                </a:solidFill>
              </a:rPr>
              <a:t>Ссылка в Bio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0" y="36301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astanavalve.kz / Linktree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087368"/>
            <a:ext cx="53949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0873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773A"/>
                </a:solidFill>
              </a:rPr>
              <a:t>Аватар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60320" y="40873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Логотип AV на тёмном фоне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617720"/>
            <a:ext cx="5394960" cy="384048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6177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Описание профиля (Bio)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5001768"/>
            <a:ext cx="5394960" cy="1600200"/>
          </a:xfrm>
          <a:prstGeom prst="rect">
            <a:avLst/>
          </a:prstGeom>
          <a:solidFill>
            <a:srgbClr val="FFF3E0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074920"/>
            <a:ext cx="5074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11111"/>
                </a:solidFill>
              </a:rPr>
              <a:t>🏭 Запорная арматура от производителя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11111"/>
                </a:solidFill>
              </a:rPr>
              <a:t>⚙️ Задвижки, клапаны, затворы DN50–2000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11111"/>
                </a:solidFill>
              </a:rPr>
              <a:t>✅ Цены на 15% ниже рынка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11111"/>
                </a:solidFill>
              </a:rPr>
              <a:t>📦 Доставка по всему Казахстану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11111"/>
                </a:solidFill>
              </a:rPr>
              <a:t>📲 КП в день обращения → WhatsApp ниже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1417320"/>
            <a:ext cx="5577840" cy="38404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141732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Highlights — Закреплённые Stories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1801368"/>
            <a:ext cx="5577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55080" y="1874520"/>
            <a:ext cx="320040" cy="320040"/>
          </a:xfrm>
          <a:prstGeom prst="ellipse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🏭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66560" y="18013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О нас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92440" y="18013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Тур по заводу, история, команда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17920" y="2258568"/>
            <a:ext cx="557784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55080" y="2331720"/>
            <a:ext cx="320040" cy="320040"/>
          </a:xfrm>
          <a:prstGeom prst="ellipse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📋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766560" y="22585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Каталог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092440" y="22585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Все виды арматуры с DN и PN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0" y="2715768"/>
            <a:ext cx="5577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55080" y="2788920"/>
            <a:ext cx="320040" cy="320040"/>
          </a:xfrm>
          <a:prstGeom prst="ellipse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📜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766560" y="27157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Сертификаты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092440" y="27157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Фото всех сертификатов соответствия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17920" y="3172968"/>
            <a:ext cx="557784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55080" y="3246120"/>
            <a:ext cx="320040" cy="320040"/>
          </a:xfrm>
          <a:prstGeom prst="ellipse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5508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🚚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766560" y="31729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Доставка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092440" y="31729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Города, сроки, условия поставки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17920" y="3630168"/>
            <a:ext cx="5577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55080" y="3703320"/>
            <a:ext cx="320040" cy="320040"/>
          </a:xfrm>
          <a:prstGeom prst="ellipse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5508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💬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766560" y="36301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Отзывы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092440" y="36301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Скриншоты переписок и кейсы объектов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217920" y="4087368"/>
            <a:ext cx="557784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55080" y="4160520"/>
            <a:ext cx="320040" cy="320040"/>
          </a:xfrm>
          <a:prstGeom prst="ellipse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55080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🎯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766560" y="40873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Акции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092440" y="40873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Текущие спецпредложения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217920" y="4544568"/>
            <a:ext cx="5577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55080" y="4617720"/>
            <a:ext cx="320040" cy="320040"/>
          </a:xfrm>
          <a:prstGeom prst="ellipse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5508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📞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766560" y="45445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Контакты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092440" y="45445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WhatsApp, телефон, адрес, карта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344400" y="0"/>
            <a:ext cx="0" cy="68580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04320" y="0"/>
            <a:ext cx="457200" cy="6858000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C8773A"/>
                </a:solidFill>
              </a:rPr>
              <a:t>ГОТОВЫ К ЗАПУСКУ?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1371600"/>
            <a:ext cx="10515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5000"/>
              </a:lnSpc>
              <a:buNone/>
            </a:pPr>
            <a:r>
              <a:rPr lang="en-US" sz="9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ЗАПУСКАЙТЕ</a:t>
            </a:r>
            <a:endParaRPr lang="en-US" sz="90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9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РЕКЛАМУ</a:t>
            </a:r>
            <a:endParaRPr lang="en-US" sz="9000" dirty="0"/>
          </a:p>
        </p:txBody>
      </p:sp>
      <p:sp>
        <p:nvSpPr>
          <p:cNvPr id="16" name="Shape 14"/>
          <p:cNvSpPr/>
          <p:nvPr/>
        </p:nvSpPr>
        <p:spPr>
          <a:xfrm>
            <a:off x="822960" y="4572000"/>
            <a:ext cx="2468880" cy="0"/>
          </a:xfrm>
          <a:prstGeom prst="line">
            <a:avLst/>
          </a:prstGeom>
          <a:noFill/>
          <a:ln w="12700">
            <a:solidFill>
              <a:srgbClr val="C877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663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37–73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22960" y="52303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773A"/>
                </a:solidFill>
              </a:rPr>
              <a:t>лида в месяц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11880" y="4572000"/>
            <a:ext cx="2468880" cy="0"/>
          </a:xfrm>
          <a:prstGeom prst="line">
            <a:avLst/>
          </a:prstGeom>
          <a:noFill/>
          <a:ln w="12700">
            <a:solidFill>
              <a:srgbClr val="C877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4663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330K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3611880" y="52303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773A"/>
                </a:solidFill>
              </a:rPr>
              <a:t>₸ бюджет/мес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4572000"/>
            <a:ext cx="2468880" cy="0"/>
          </a:xfrm>
          <a:prstGeom prst="line">
            <a:avLst/>
          </a:prstGeom>
          <a:noFill/>
          <a:ln w="12700">
            <a:solidFill>
              <a:srgbClr val="C877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4663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600%+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400800" y="52303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773A"/>
                </a:solidFill>
              </a:rPr>
              <a:t>ROAS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89720" y="4572000"/>
            <a:ext cx="2468880" cy="0"/>
          </a:xfrm>
          <a:prstGeom prst="line">
            <a:avLst/>
          </a:prstGeom>
          <a:noFill/>
          <a:ln w="12700">
            <a:solidFill>
              <a:srgbClr val="C877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89720" y="4663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9189720" y="52303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773A"/>
                </a:solidFill>
              </a:rPr>
              <a:t>кампании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6A8AAA"/>
                </a:solidFill>
              </a:rPr>
              <a:t>astanavalve.kz  ·  +7 707 855-55-11  ·  WhatsApp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Astana Valve — Instagram Marketing Strategy</dc:title>
  <dc:subject>PptxGenJS Presentation</dc:subject>
  <dc:creator>PptxGenJS</dc:creator>
  <cp:lastModifiedBy>PptxGenJS</cp:lastModifiedBy>
  <cp:revision>1</cp:revision>
  <dcterms:created xsi:type="dcterms:W3CDTF">2026-05-24T17:41:57Z</dcterms:created>
  <dcterms:modified xsi:type="dcterms:W3CDTF">2026-05-24T17:41:57Z</dcterms:modified>
</cp:coreProperties>
</file>